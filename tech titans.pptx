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3" r:id="rId4"/>
    <p:sldId id="267" r:id="rId5"/>
    <p:sldId id="268" r:id="rId6"/>
    <p:sldId id="269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838A2A7-B4E3-4169-B592-61560CD36A7B}">
          <p14:sldIdLst>
            <p14:sldId id="261"/>
            <p14:sldId id="259"/>
            <p14:sldId id="263"/>
            <p14:sldId id="267"/>
            <p14:sldId id="268"/>
            <p14:sldId id="269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15D"/>
    <a:srgbClr val="1A1965"/>
    <a:srgbClr val="1C094E"/>
    <a:srgbClr val="0D2939"/>
    <a:srgbClr val="0E87B2"/>
    <a:srgbClr val="0A1A4E"/>
    <a:srgbClr val="CCCCCC"/>
    <a:srgbClr val="97C0D2"/>
    <a:srgbClr val="373C4A"/>
    <a:srgbClr val="061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F7276-9CDC-4500-960B-F2EC1ACC113A}" v="56" dt="2025-10-18T09:36:59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BD86-61AC-7A23-8FDB-14D0B5DCF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D401-3FAD-6603-AF5B-7A86542C0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F472C-F854-9389-8FA8-34089366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2644-E57A-87D8-1ABE-17BFD838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E25F-A660-CF0A-FB57-D6503038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39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4C46-8B68-2AF3-214C-8E552F25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BFD0-BE49-7705-7152-CAF251750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D6438-5321-A194-D24A-573C9BF4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A0D11-0022-C8A6-21DE-AAB79CC0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3036-F829-EFF5-ADDC-B42DB215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0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E0E-B721-06C8-F2E6-678C3389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89943-45B6-4633-59EA-8B4040335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B2034-51A8-71C7-2140-C55814AF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4EF63-9631-1077-28F8-BCC4DF19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B7837-C02C-3919-A088-BA2D8C2A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7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F321-E156-360D-AD05-2B45B750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48D5-977D-7176-8C41-2751BD85D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2DBF4-3F4A-4347-24F9-3629F8CA6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D4254-3E2A-457D-5177-7DE5F2CD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1E706-A7C1-A39C-F89C-509F8763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4388A-9DDA-4B45-9CB3-C8D8F22D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210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7724-40F4-9274-01F1-E2BCEF83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2DF16-BADA-0F33-1F6C-3AD8B4C90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43A49-7AE4-7E24-4CF3-91BC0A0C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20035-8890-46BC-29C0-53729544A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C45E0-7564-0B00-6727-B7D5BA697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98D44F-9DE7-767A-A4CF-CA241BC9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8C003-A3CA-8A26-CF7A-093EDA1E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3590E-533A-E6FD-F2D9-35C960D8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9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86F8-D819-4E37-6131-5DE544E7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25F369-B890-CF19-66F4-A21CD33F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826AD-C3BF-8C1D-FB0D-2BAF9E37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393E4-046F-3405-AE15-13C99216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83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4D855-7373-C978-6068-D9A9C312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A4B978-D3B8-538A-8231-DBE569E0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8DDBF-BF77-2281-4A03-3DE9107B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5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F16F-025B-0488-FEF0-A76ECA53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41927-BBE7-A911-C5A4-BB681A95F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921BC-95E2-5C35-1B9C-90021BF36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15652-2FA2-FFC6-98B1-819EB131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213A6-72DD-3E7A-EE20-874B79C6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57827-360E-806B-B6B9-D4C1675E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3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F150-27C7-BBEF-CDDE-7039444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A1181-4D4E-DD10-7C9F-96036D27D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E234C-9E29-80CB-8099-83A9184DA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C5827-EB4C-BAE5-E9B4-DBAE008E9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59A7B-643F-4CBF-9BB7-E1DDEF28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F1F55-4CCD-CB7F-72A7-9AEE7851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3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27D2-9A46-C744-47B1-FB280C65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680AB-0DEB-A7D6-7147-1F6DBD145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0C68-8423-8735-27E9-36B41ADB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AAC53-39DD-24B6-936C-0D843F42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3284E-6EB8-444B-F14D-3AFAE2C2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2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033D0-4E53-00B2-083B-F28045BF0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B08D4-2369-9ADD-2DBA-FB4DA2CE6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ED4F0-4953-5EEA-1132-8578A13B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BF3E9-ADA1-B676-E518-E643733D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4E05D-649A-74B2-E7A8-00E859BC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0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88197-2DE1-E58C-D8EB-1975D9D4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5DFC9-7033-5B03-4D38-10A8677C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0293-5C14-4CA4-5020-ACD59FDE5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85532-285D-455A-9CAC-09F8CD135E8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F875-0659-C220-83EF-1E16B86F5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E678B-714B-FBF4-494C-A8A36206F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D2EAA-5B59-4367-863A-905CEB9E0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93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1CB90-E924-D182-F5FC-C41B4E2E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A744B-E784-6BBC-AB04-CADF000E6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4D8598-2A5C-D159-9598-ADEA02D22E04}"/>
              </a:ext>
            </a:extLst>
          </p:cNvPr>
          <p:cNvSpPr/>
          <p:nvPr/>
        </p:nvSpPr>
        <p:spPr>
          <a:xfrm>
            <a:off x="176980" y="668593"/>
            <a:ext cx="6791087" cy="776749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SMART RECRUITMENT ASSISTANT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97E5FE-5F6A-C135-1E8C-1647CAF13785}"/>
              </a:ext>
            </a:extLst>
          </p:cNvPr>
          <p:cNvSpPr/>
          <p:nvPr/>
        </p:nvSpPr>
        <p:spPr>
          <a:xfrm>
            <a:off x="285135" y="2068461"/>
            <a:ext cx="6488198" cy="1807908"/>
          </a:xfrm>
          <a:prstGeom prst="roundRect">
            <a:avLst>
              <a:gd name="adj" fmla="val 28069"/>
            </a:avLst>
          </a:prstGeom>
          <a:solidFill>
            <a:srgbClr val="97C0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Problem Statement:- Recruiters spend excessive time screening resumes and matching candidates with job descriptions. Manual shortlisting is slow and inconsistent.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978246-7BE8-EEDD-B039-8253CB89C44A}"/>
              </a:ext>
            </a:extLst>
          </p:cNvPr>
          <p:cNvSpPr/>
          <p:nvPr/>
        </p:nvSpPr>
        <p:spPr>
          <a:xfrm>
            <a:off x="285135" y="4366751"/>
            <a:ext cx="6012426" cy="2373262"/>
          </a:xfrm>
          <a:prstGeom prst="roundRect">
            <a:avLst>
              <a:gd name="adj" fmla="val 28069"/>
            </a:avLst>
          </a:prstGeom>
          <a:solidFill>
            <a:srgbClr val="97C0D2">
              <a:alpha val="8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Recruiters spend excessive time screening resumes and matching candidates with job descriptions. Manual shortlisting is slow and inconsistent.</a:t>
            </a:r>
          </a:p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</a:rPr>
              <a:t>Manual screening is slow, inconsistent, and biased.</a:t>
            </a:r>
          </a:p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</a:rPr>
              <a:t>High volume of applicants makes efficient hiring almost impossible.</a:t>
            </a:r>
          </a:p>
        </p:txBody>
      </p:sp>
      <p:pic>
        <p:nvPicPr>
          <p:cNvPr id="5" name="Graphic 4" descr="Chevron arrows with solid fill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47EFF04-EBA0-69AC-DDC8-2B0F257EC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513871" y="5732207"/>
            <a:ext cx="914400" cy="9144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F8CC74-B72D-BCC6-351D-C3A922625B3F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356721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B27EC-DB0E-8BC0-4F77-10C69DF1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obot with a face">
            <a:extLst>
              <a:ext uri="{FF2B5EF4-FFF2-40B4-BE49-F238E27FC236}">
                <a16:creationId xmlns:a16="http://schemas.microsoft.com/office/drawing/2014/main" id="{DDC16549-E589-9AB5-9627-D13074782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13" y="0"/>
            <a:ext cx="12192000" cy="6858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52279E-8A2C-B706-0095-2BE9575049BC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1062D7-3992-EF0C-8F16-CBC3DBA6F67E}"/>
              </a:ext>
            </a:extLst>
          </p:cNvPr>
          <p:cNvSpPr/>
          <p:nvPr/>
        </p:nvSpPr>
        <p:spPr>
          <a:xfrm>
            <a:off x="176980" y="668593"/>
            <a:ext cx="3962401" cy="776749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Proposed Solution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FEFC70-B9F9-9B48-95FA-9806B2D8FD1A}"/>
              </a:ext>
            </a:extLst>
          </p:cNvPr>
          <p:cNvSpPr/>
          <p:nvPr/>
        </p:nvSpPr>
        <p:spPr>
          <a:xfrm>
            <a:off x="285134" y="2068461"/>
            <a:ext cx="11144865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Smart Recruitment Assistant reads and analyzes job descriptions &amp; resumes using AI.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20F479-B92B-1D6E-F76B-E13BCCC3822B}"/>
              </a:ext>
            </a:extLst>
          </p:cNvPr>
          <p:cNvSpPr/>
          <p:nvPr/>
        </p:nvSpPr>
        <p:spPr>
          <a:xfrm>
            <a:off x="285134" y="2986547"/>
            <a:ext cx="6513231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Uses LLM-based matching to rank candidates.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7EF6AA-CDBA-5F89-3201-9D078D3AB0F9}"/>
              </a:ext>
            </a:extLst>
          </p:cNvPr>
          <p:cNvSpPr/>
          <p:nvPr/>
        </p:nvSpPr>
        <p:spPr>
          <a:xfrm>
            <a:off x="285134" y="4145524"/>
            <a:ext cx="6801466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Provides Top N recommendations automatically.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A6641A-54D3-A1A5-4C9B-040AFD314C57}"/>
              </a:ext>
            </a:extLst>
          </p:cNvPr>
          <p:cNvSpPr/>
          <p:nvPr/>
        </p:nvSpPr>
        <p:spPr>
          <a:xfrm>
            <a:off x="285134" y="5202385"/>
            <a:ext cx="5489501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Sends personalized shortlisting emails.</a:t>
            </a:r>
          </a:p>
        </p:txBody>
      </p:sp>
    </p:spTree>
    <p:extLst>
      <p:ext uri="{BB962C8B-B14F-4D97-AF65-F5344CB8AC3E}">
        <p14:creationId xmlns:p14="http://schemas.microsoft.com/office/powerpoint/2010/main" val="167117247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41D5-AC23-43F8-B140-4D678CA9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D1EA6-DB8B-0FA8-D413-71460D587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839434-382F-4972-5B73-C38B8649D3C7}"/>
              </a:ext>
            </a:extLst>
          </p:cNvPr>
          <p:cNvSpPr/>
          <p:nvPr/>
        </p:nvSpPr>
        <p:spPr>
          <a:xfrm>
            <a:off x="10658168" y="6135329"/>
            <a:ext cx="1317521" cy="60468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err="1">
                <a:latin typeface="Algerian" panose="04020705040A02060702" pitchFamily="82" charset="0"/>
              </a:rPr>
              <a:t>Rao.SBK</a:t>
            </a:r>
            <a:endParaRPr lang="en-IN" b="1">
              <a:latin typeface="Algerian" panose="04020705040A02060702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E64B43-6EDD-5F1E-27D3-F7367BC504A6}"/>
              </a:ext>
            </a:extLst>
          </p:cNvPr>
          <p:cNvSpPr/>
          <p:nvPr/>
        </p:nvSpPr>
        <p:spPr>
          <a:xfrm>
            <a:off x="803146" y="648714"/>
            <a:ext cx="2774942" cy="776749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Key Feature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60176E-2243-3DD8-F501-6C8AAA5408C3}"/>
              </a:ext>
            </a:extLst>
          </p:cNvPr>
          <p:cNvSpPr/>
          <p:nvPr/>
        </p:nvSpPr>
        <p:spPr>
          <a:xfrm>
            <a:off x="1040507" y="2068460"/>
            <a:ext cx="3710397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✅ Resume &amp; Job Parsing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D1A1D6-23F0-B057-3CBA-CB382D0486C5}"/>
              </a:ext>
            </a:extLst>
          </p:cNvPr>
          <p:cNvSpPr/>
          <p:nvPr/>
        </p:nvSpPr>
        <p:spPr>
          <a:xfrm>
            <a:off x="1040507" y="3037768"/>
            <a:ext cx="3710396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✅ AI Candidate Scoring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30F48A-783C-999A-5B9A-27003ACA0519}"/>
              </a:ext>
            </a:extLst>
          </p:cNvPr>
          <p:cNvSpPr/>
          <p:nvPr/>
        </p:nvSpPr>
        <p:spPr>
          <a:xfrm>
            <a:off x="1040507" y="4007076"/>
            <a:ext cx="4465770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✅ Automated Email Shortlisting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B9465E-91F3-905E-30DB-7293C0FAFE31}"/>
              </a:ext>
            </a:extLst>
          </p:cNvPr>
          <p:cNvSpPr/>
          <p:nvPr/>
        </p:nvSpPr>
        <p:spPr>
          <a:xfrm>
            <a:off x="1040507" y="4976384"/>
            <a:ext cx="4793762" cy="776749"/>
          </a:xfrm>
          <a:prstGeom prst="roundRect">
            <a:avLst>
              <a:gd name="adj" fmla="val 28069"/>
            </a:avLst>
          </a:prstGeom>
          <a:solidFill>
            <a:schemeClr val="accent5">
              <a:lumMod val="75000"/>
              <a:alpha val="6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/>
              <a:t>✅ Recruiter Dashboard (React UI)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C7E73B-CDDC-D3C7-8026-7AB3424DF5F3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322826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2D97-B700-6C91-2ED3-3036711B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DF5AE-C017-1148-BC1A-A5751D5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2EA19E-DA5E-E9CC-2E09-3152A6167BE4}"/>
              </a:ext>
            </a:extLst>
          </p:cNvPr>
          <p:cNvSpPr/>
          <p:nvPr/>
        </p:nvSpPr>
        <p:spPr>
          <a:xfrm>
            <a:off x="10658168" y="6135329"/>
            <a:ext cx="1317521" cy="60468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err="1">
                <a:latin typeface="Algerian" panose="04020705040A02060702" pitchFamily="82" charset="0"/>
              </a:rPr>
              <a:t>Rao.SBK</a:t>
            </a:r>
            <a:endParaRPr lang="en-IN" b="1">
              <a:latin typeface="Algerian" panose="04020705040A02060702" pitchFamily="8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42C4B7-C58A-CB54-ACDE-F86525D4192B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  <p:pic>
        <p:nvPicPr>
          <p:cNvPr id="4" name="Picture 3" descr="A diagram of a sales funnel">
            <a:extLst>
              <a:ext uri="{FF2B5EF4-FFF2-40B4-BE49-F238E27FC236}">
                <a16:creationId xmlns:a16="http://schemas.microsoft.com/office/drawing/2014/main" id="{3AA5D851-5A34-7981-97F3-F56DDD334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21" y="590893"/>
            <a:ext cx="6212264" cy="626710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D564D-EB76-CEC7-CA21-C40890D144AB}"/>
              </a:ext>
            </a:extLst>
          </p:cNvPr>
          <p:cNvSpPr/>
          <p:nvPr/>
        </p:nvSpPr>
        <p:spPr>
          <a:xfrm>
            <a:off x="656021" y="356483"/>
            <a:ext cx="4277901" cy="623905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9196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system architecture cycle&#10;&#10;AI-generated content may be incorrect.">
            <a:extLst>
              <a:ext uri="{FF2B5EF4-FFF2-40B4-BE49-F238E27FC236}">
                <a16:creationId xmlns:a16="http://schemas.microsoft.com/office/drawing/2014/main" id="{52DE7847-8348-8CEA-B8C7-557DFC9B5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656" y="0"/>
            <a:ext cx="7532688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C49946-CCDF-A739-3D99-57E1B09D4099}"/>
              </a:ext>
            </a:extLst>
          </p:cNvPr>
          <p:cNvSpPr/>
          <p:nvPr/>
        </p:nvSpPr>
        <p:spPr>
          <a:xfrm>
            <a:off x="656021" y="356483"/>
            <a:ext cx="2723283" cy="623905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Tech-Stack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9FA483-C0E0-FB90-4149-9DFA1D4A884D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260273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job interview">
            <a:extLst>
              <a:ext uri="{FF2B5EF4-FFF2-40B4-BE49-F238E27FC236}">
                <a16:creationId xmlns:a16="http://schemas.microsoft.com/office/drawing/2014/main" id="{917146CA-1796-5336-C7FA-5781A1768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051" y="1358744"/>
            <a:ext cx="7552745" cy="5414414"/>
          </a:xfrm>
          <a:prstGeom prst="rect">
            <a:avLst/>
          </a:prstGeom>
        </p:spPr>
      </p:pic>
      <p:pic>
        <p:nvPicPr>
          <p:cNvPr id="5" name="Picture 4" descr="A diagram of a company's company's company">
            <a:extLst>
              <a:ext uri="{FF2B5EF4-FFF2-40B4-BE49-F238E27FC236}">
                <a16:creationId xmlns:a16="http://schemas.microsoft.com/office/drawing/2014/main" id="{F6E27D7D-BFAE-B7BD-7DB0-55B9052D0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484" y="500516"/>
            <a:ext cx="6856333" cy="585696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7A6924-14AC-B892-92FF-FF0BA4B53015}"/>
              </a:ext>
            </a:extLst>
          </p:cNvPr>
          <p:cNvSpPr/>
          <p:nvPr/>
        </p:nvSpPr>
        <p:spPr>
          <a:xfrm>
            <a:off x="656021" y="356483"/>
            <a:ext cx="2011765" cy="623905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45672-3BBB-BF4F-32A1-1E133671DC03}"/>
              </a:ext>
            </a:extLst>
          </p:cNvPr>
          <p:cNvSpPr/>
          <p:nvPr/>
        </p:nvSpPr>
        <p:spPr>
          <a:xfrm>
            <a:off x="6096000" y="188563"/>
            <a:ext cx="3076280" cy="623905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Future Scope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3A8898-772C-6879-51D8-EE4F1F22A122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132194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C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8BC63-A884-A434-B08B-03DFB862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CDF66-0E7E-E3DB-6118-4FFB20057B29}"/>
              </a:ext>
            </a:extLst>
          </p:cNvPr>
          <p:cNvSpPr/>
          <p:nvPr/>
        </p:nvSpPr>
        <p:spPr>
          <a:xfrm>
            <a:off x="10658168" y="6135329"/>
            <a:ext cx="1317521" cy="60468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latin typeface="Algerian" panose="04020705040A02060702" pitchFamily="82" charset="0"/>
              </a:rPr>
              <a:t>Rao.SBK</a:t>
            </a:r>
            <a:endParaRPr lang="en-IN" b="1" dirty="0">
              <a:latin typeface="Algerian" panose="04020705040A02060702" pitchFamily="82" charset="0"/>
            </a:endParaRPr>
          </a:p>
        </p:txBody>
      </p:sp>
      <p:pic>
        <p:nvPicPr>
          <p:cNvPr id="9" name="Picture 8" descr="A diagram of a job application">
            <a:extLst>
              <a:ext uri="{FF2B5EF4-FFF2-40B4-BE49-F238E27FC236}">
                <a16:creationId xmlns:a16="http://schemas.microsoft.com/office/drawing/2014/main" id="{C4DAC2DA-3E2A-AF3C-4DA7-936B6D19F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616" y="-604685"/>
            <a:ext cx="6487901" cy="774507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2C7198-CA04-5EEE-692C-57963D7AB851}"/>
              </a:ext>
            </a:extLst>
          </p:cNvPr>
          <p:cNvSpPr/>
          <p:nvPr/>
        </p:nvSpPr>
        <p:spPr>
          <a:xfrm>
            <a:off x="10202334" y="6135329"/>
            <a:ext cx="1773356" cy="60468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TECH TITANS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624302-1C38-F669-47E4-9D048F943A4A}"/>
              </a:ext>
            </a:extLst>
          </p:cNvPr>
          <p:cNvSpPr/>
          <p:nvPr/>
        </p:nvSpPr>
        <p:spPr>
          <a:xfrm>
            <a:off x="467177" y="485691"/>
            <a:ext cx="2723283" cy="623905"/>
          </a:xfrm>
          <a:prstGeom prst="roundRect">
            <a:avLst>
              <a:gd name="adj" fmla="val 50000"/>
            </a:avLst>
          </a:prstGeom>
          <a:solidFill>
            <a:srgbClr val="0E8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532617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A4A8D-CB60-14F9-12C1-11B2E40E2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727B10-5F9C-51D5-93CF-8B8EA2804354}"/>
              </a:ext>
            </a:extLst>
          </p:cNvPr>
          <p:cNvSpPr/>
          <p:nvPr/>
        </p:nvSpPr>
        <p:spPr>
          <a:xfrm>
            <a:off x="3770722" y="5417574"/>
            <a:ext cx="4773511" cy="604684"/>
          </a:xfrm>
          <a:prstGeom prst="roundRect">
            <a:avLst>
              <a:gd name="adj" fmla="val 50000"/>
            </a:avLst>
          </a:prstGeom>
          <a:solidFill>
            <a:srgbClr val="1A19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Algerian" panose="04020705040A02060702" pitchFamily="82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74919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153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sunmoon islam</dc:creator>
  <cp:lastModifiedBy>Suraj Bhan Kumar</cp:lastModifiedBy>
  <cp:revision>6</cp:revision>
  <dcterms:created xsi:type="dcterms:W3CDTF">2024-11-27T11:03:57Z</dcterms:created>
  <dcterms:modified xsi:type="dcterms:W3CDTF">2025-10-18T11:18:19Z</dcterms:modified>
</cp:coreProperties>
</file>